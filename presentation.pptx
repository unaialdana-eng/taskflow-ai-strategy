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Competitive AI Response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TaskFlow Executive Briefing</a:t>
            </a:r>
            <a:br/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1. Market Landscape</a:t>
            </a:r>
          </a:p>
          <a:p>
            <a:pPr>
              <a:spcAft>
                <a:spcPts val="600"/>
              </a:spcAft>
              <a:defRPr sz="1800"/>
            </a:pPr>
            <a:r>
              <a:t>2. Competitor Overview</a:t>
            </a:r>
          </a:p>
          <a:p>
            <a:pPr>
              <a:spcAft>
                <a:spcPts val="600"/>
              </a:spcAft>
              <a:defRPr sz="1800"/>
            </a:pPr>
            <a:r>
              <a:t>3. Feature Comparison</a:t>
            </a:r>
          </a:p>
          <a:p>
            <a:pPr>
              <a:spcAft>
                <a:spcPts val="600"/>
              </a:spcAft>
              <a:defRPr sz="1800"/>
            </a:pPr>
            <a:r>
              <a:t>4. Strategic Recommendation</a:t>
            </a:r>
          </a:p>
          <a:p>
            <a:pPr>
              <a:spcAft>
                <a:spcPts val="600"/>
              </a:spcAft>
              <a:defRPr sz="1800"/>
            </a:pPr>
            <a:r>
              <a:t>5. Roadmap</a:t>
            </a:r>
          </a:p>
          <a:p>
            <a:pPr>
              <a:spcAft>
                <a:spcPts val="600"/>
              </a:spcAft>
              <a:defRPr sz="1800"/>
            </a:pPr>
            <a:r>
              <a:t>6. Investment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 AI Imperative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100% of competitors have shipped AI features</a:t>
            </a:r>
          </a:p>
          <a:p>
            <a:pPr>
              <a:spcAft>
                <a:spcPts val="600"/>
              </a:spcAft>
              <a:defRPr sz="1800"/>
            </a:pPr>
            <a:r>
              <a:t>Metric  Data</a:t>
            </a:r>
          </a:p>
          <a:p/>
          <a:p>
            <a:pPr>
              <a:spcAft>
                <a:spcPts val="600"/>
              </a:spcAft>
              <a:defRPr sz="1800"/>
            </a:pPr>
            <a:r>
              <a:t>Competitors with AI  6/6</a:t>
            </a:r>
          </a:p>
          <a:p>
            <a:pPr>
              <a:spcAft>
                <a:spcPts val="600"/>
              </a:spcAft>
              <a:defRPr sz="1800"/>
            </a:pPr>
            <a:r>
              <a:t>Gartner prediction  40% of enterprise apps will embed AI agents by end of 2026</a:t>
            </a:r>
          </a:p>
          <a:p>
            <a:pPr>
              <a:spcAft>
                <a:spcPts val="600"/>
              </a:spcAft>
              <a:defRPr sz="1800"/>
            </a:pPr>
            <a:r>
              <a:t>Market shift  "AI-assisted" → "AI-autonomous" (agentic)</a:t>
            </a:r>
          </a:p>
          <a:p>
            <a:pPr>
              <a:spcAft>
                <a:spcPts val="600"/>
              </a:spcAft>
              <a:defRPr sz="1800"/>
            </a:pPr>
            <a:r>
              <a:t>The window for differentiated entry is narrowing.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Market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Era  Capabilities  Examples</a:t>
            </a:r>
          </a:p>
          <a:p/>
          <a:p>
            <a:pPr>
              <a:spcAft>
                <a:spcPts val="600"/>
              </a:spcAft>
              <a:defRPr sz="1800"/>
            </a:pPr>
            <a:r>
              <a:t>2023-2024  Chat assistants, writing help  Basic Notion AI</a:t>
            </a:r>
          </a:p>
          <a:p>
            <a:pPr>
              <a:spcAft>
                <a:spcPts val="600"/>
              </a:spcAft>
              <a:defRPr sz="1800"/>
            </a:pPr>
            <a:r>
              <a:t>2025  Workflow automation, triage  Linear Triage, Asana AI Studio</a:t>
            </a:r>
          </a:p>
          <a:p>
            <a:pPr>
              <a:spcAft>
                <a:spcPts val="600"/>
              </a:spcAft>
              <a:defRPr sz="1800"/>
            </a:pPr>
            <a:r>
              <a:t>2026+  Autonomous agents, multi-agent systems  Notion Agents, Monday Agent Factory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Competitor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                SPECIALIZED</a:t>
            </a:r>
          </a:p>
          <a:p>
            <a:pPr>
              <a:spcAft>
                <a:spcPts val="600"/>
              </a:spcAft>
              <a:defRPr sz="1800"/>
            </a:pPr>
            <a:r>
              <a:t>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t>        Linear       │       Motion</a:t>
            </a:r>
          </a:p>
          <a:p>
            <a:pPr>
              <a:spcAft>
                <a:spcPts val="600"/>
              </a:spcAft>
              <a:defRPr sz="1800"/>
            </a:pPr>
            <a:r>
              <a:t>     (Engineering)   │    (Time Mgmt)</a:t>
            </a:r>
          </a:p>
          <a:p>
            <a:pPr>
              <a:spcAft>
                <a:spcPts val="600"/>
              </a:spcAft>
              <a:defRPr sz="1800"/>
            </a:pPr>
            <a:r>
              <a:t>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t>DEPTH ───────────────┼─────────────── BREADTH</a:t>
            </a:r>
          </a:p>
          <a:p>
            <a:pPr>
              <a:spcAft>
                <a:spcPts val="600"/>
              </a:spcAft>
              <a:defRPr sz="1800"/>
            </a:pPr>
            <a:r>
              <a:t>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t>                     │    Asana</a:t>
            </a:r>
          </a:p>
          <a:p>
            <a:pPr>
              <a:spcAft>
                <a:spcPts val="600"/>
              </a:spcAft>
              <a:defRPr sz="1800"/>
            </a:pPr>
            <a:r>
              <a:t>       TaskFlow?     │    Monday.com</a:t>
            </a:r>
          </a:p>
          <a:p>
            <a:pPr>
              <a:spcAft>
                <a:spcPts val="600"/>
              </a:spcAft>
              <a:defRPr sz="1800"/>
            </a:pPr>
            <a:r>
              <a:t>                     │    ClickUp</a:t>
            </a:r>
          </a:p>
          <a:p>
            <a:pPr>
              <a:spcAft>
                <a:spcPts val="600"/>
              </a:spcAft>
              <a:defRPr sz="1800"/>
            </a:pPr>
            <a:r>
              <a:t>                     │    Notion</a:t>
            </a:r>
          </a:p>
          <a:p>
            <a:pPr>
              <a:spcAft>
                <a:spcPts val="600"/>
              </a:spcAft>
              <a:defRPr sz="1800"/>
            </a:pPr>
            <a:r>
              <a:t>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t>                FULL-SUITE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Competitor Snapshot: Asana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AI Branding: Asana AI + AI Studio</a:t>
            </a:r>
          </a:p>
          <a:p>
            <a:pPr>
              <a:spcAft>
                <a:spcPts val="600"/>
              </a:spcAft>
              <a:defRPr sz="1800"/>
            </a:pPr>
            <a:r>
              <a:t>Key Features:</a:t>
            </a:r>
          </a:p>
          <a:p>
            <a:pPr>
              <a:spcAft>
                <a:spcPts val="600"/>
              </a:spcAft>
              <a:defRPr sz="1800"/>
            </a:pPr>
            <a:r>
              <a:t>• Smart Summaries &amp; Fields</a:t>
            </a:r>
          </a:p>
          <a:p>
            <a:pPr>
              <a:spcAft>
                <a:spcPts val="600"/>
              </a:spcAft>
              <a:defRPr sz="1800"/>
            </a:pPr>
            <a:r>
              <a:t>• Natural language workflow builder</a:t>
            </a:r>
          </a:p>
          <a:p>
            <a:pPr>
              <a:spcAft>
                <a:spcPts val="600"/>
              </a:spcAft>
              <a:defRPr sz="1800"/>
            </a:pPr>
            <a:r>
              <a:t>• Risk reports</a:t>
            </a:r>
          </a:p>
          <a:p>
            <a:pPr>
              <a:spcAft>
                <a:spcPts val="600"/>
              </a:spcAft>
              <a:defRPr sz="1800"/>
            </a:pPr>
            <a:r>
              <a:t>Pricing: Bundled in Advanced ($24.99/user/mo)</a:t>
            </a:r>
          </a:p>
          <a:p>
            <a:pPr>
              <a:spcAft>
                <a:spcPts val="600"/>
              </a:spcAft>
              <a:defRPr sz="1800"/>
            </a:pPr>
            <a:r>
              <a:t>Strength: Enterprise-grade, mature implementation</a:t>
            </a:r>
          </a:p>
          <a:p>
            <a:pPr>
              <a:spcAft>
                <a:spcPts val="600"/>
              </a:spcAft>
              <a:defRPr sz="1800"/>
            </a:pPr>
            <a:r>
              <a:t>Weakness: No customer-facing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Competitor Snapshot: Linear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AI Branding: Product Intelligence</a:t>
            </a:r>
          </a:p>
          <a:p>
            <a:pPr>
              <a:spcAft>
                <a:spcPts val="600"/>
              </a:spcAft>
              <a:defRPr sz="1800"/>
            </a:pPr>
            <a:r>
              <a:t>Key Features:</a:t>
            </a:r>
          </a:p>
          <a:p>
            <a:pPr>
              <a:spcAft>
                <a:spcPts val="600"/>
              </a:spcAft>
              <a:defRPr sz="1800"/>
            </a:pPr>
            <a:r>
              <a:t>• Triage Intelligence (auto-routing)</a:t>
            </a:r>
          </a:p>
          <a:p>
            <a:pPr>
              <a:spcAft>
                <a:spcPts val="600"/>
              </a:spcAft>
              <a:defRPr sz="1800"/>
            </a:pPr>
            <a:r>
              <a:t>• Duplicate detection</a:t>
            </a:r>
          </a:p>
          <a:p>
            <a:pPr>
              <a:spcAft>
                <a:spcPts val="600"/>
              </a:spcAft>
              <a:defRPr sz="1800"/>
            </a:pPr>
            <a:r>
              <a:t>• Agent SDK for developers</a:t>
            </a:r>
          </a:p>
          <a:p>
            <a:pPr>
              <a:spcAft>
                <a:spcPts val="600"/>
              </a:spcAft>
              <a:defRPr sz="1800"/>
            </a:pPr>
            <a:r>
              <a:t>Pricing: Included in Business tier</a:t>
            </a:r>
          </a:p>
          <a:p>
            <a:pPr>
              <a:spcAft>
                <a:spcPts val="600"/>
              </a:spcAft>
              <a:defRPr sz="1800"/>
            </a:pPr>
            <a:r>
              <a:t>Strength: Developer-focused, clean API</a:t>
            </a:r>
          </a:p>
          <a:p>
            <a:pPr>
              <a:spcAft>
                <a:spcPts val="600"/>
              </a:spcAft>
              <a:defRPr sz="1800"/>
            </a:pPr>
            <a:r>
              <a:t>Weakness: Narrow scope (engineering only)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Competitor Snapshot: Monday.com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AI Branding: monday AI + Sidekick + Agent Factory</a:t>
            </a:r>
          </a:p>
          <a:p>
            <a:pPr>
              <a:spcAft>
                <a:spcPts val="600"/>
              </a:spcAft>
              <a:defRPr sz="1800"/>
            </a:pPr>
            <a:r>
              <a:t>Key Features:</a:t>
            </a:r>
          </a:p>
          <a:p>
            <a:pPr>
              <a:spcAft>
                <a:spcPts val="600"/>
              </a:spcAft>
              <a:defRPr sz="1800"/>
            </a:pPr>
            <a:r>
              <a:t>• Conversational AI assistant</a:t>
            </a:r>
          </a:p>
          <a:p>
            <a:pPr>
              <a:spcAft>
                <a:spcPts val="600"/>
              </a:spcAft>
              <a:defRPr sz="1800"/>
            </a:pPr>
            <a:r>
              <a:t>• No-code custom agent builder</a:t>
            </a:r>
          </a:p>
          <a:p>
            <a:pPr>
              <a:spcAft>
                <a:spcPts val="600"/>
              </a:spcAft>
              <a:defRPr sz="1800"/>
            </a:pPr>
            <a:r>
              <a:t>• Digital Workforce (pre-built agents)</a:t>
            </a:r>
          </a:p>
          <a:p>
            <a:pPr>
              <a:spcAft>
                <a:spcPts val="600"/>
              </a:spcAft>
              <a:defRPr sz="1800"/>
            </a:pPr>
            <a:r>
              <a:t>Pricing: 500 free credits + add-ons (~$2,400/yr account-level)</a:t>
            </a:r>
          </a:p>
          <a:p>
            <a:pPr>
              <a:spcAft>
                <a:spcPts val="600"/>
              </a:spcAft>
              <a:defRPr sz="1800"/>
            </a:pPr>
            <a:r>
              <a:t>Strength: Account-level pricing (not per-user)</a:t>
            </a:r>
          </a:p>
          <a:p>
            <a:pPr>
              <a:spcAft>
                <a:spcPts val="600"/>
              </a:spcAft>
              <a:defRPr sz="1800"/>
            </a:pPr>
            <a:r>
              <a:t>Weakness: Credit system complexity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Competitor Snapshot: ClickUp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AI Branding: ClickUp Brain</a:t>
            </a:r>
          </a:p>
          <a:p>
            <a:pPr>
              <a:spcAft>
                <a:spcPts val="600"/>
              </a:spcAft>
              <a:defRPr sz="1800"/>
            </a:pPr>
            <a:r>
              <a:t>Key Features:</a:t>
            </a:r>
          </a:p>
          <a:p>
            <a:pPr>
              <a:spcAft>
                <a:spcPts val="600"/>
              </a:spcAft>
              <a:defRPr sz="1800"/>
            </a:pPr>
            <a:r>
              <a:t>• AI Knowledge Manager &amp; Project Manager</a:t>
            </a:r>
          </a:p>
          <a:p>
            <a:pPr>
              <a:spcAft>
                <a:spcPts val="600"/>
              </a:spcAft>
              <a:defRPr sz="1800"/>
            </a:pPr>
            <a:r>
              <a:t>• Meeting transcription &amp; scheduling</a:t>
            </a:r>
          </a:p>
          <a:p>
            <a:pPr>
              <a:spcAft>
                <a:spcPts val="600"/>
              </a:spcAft>
              <a:defRPr sz="1800"/>
            </a:pPr>
            <a:r>
              <a:t>• Multi-model choice (GPT-5, Claude, o3)</a:t>
            </a:r>
          </a:p>
          <a:p>
            <a:pPr>
              <a:spcAft>
                <a:spcPts val="600"/>
              </a:spcAft>
              <a:defRPr sz="1800"/>
            </a:pPr>
            <a:r>
              <a:t>Pricing: +$5/user/month add-on</a:t>
            </a:r>
          </a:p>
          <a:p>
            <a:pPr>
              <a:spcAft>
                <a:spcPts val="600"/>
              </a:spcAft>
              <a:defRPr sz="1800"/>
            </a:pPr>
            <a:r>
              <a:t>Strength: Multi-model flexibility, comprehensive</a:t>
            </a:r>
          </a:p>
          <a:p>
            <a:pPr>
              <a:spcAft>
                <a:spcPts val="600"/>
              </a:spcAft>
              <a:defRPr sz="1800"/>
            </a:pPr>
            <a:r>
              <a:t>Weakness: Must enable for entire workspace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Competitor Snapshot: Notion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AI Branding: Notion AI</a:t>
            </a:r>
          </a:p>
          <a:p>
            <a:pPr>
              <a:spcAft>
                <a:spcPts val="600"/>
              </a:spcAft>
              <a:defRPr sz="1800"/>
            </a:pPr>
            <a:r>
              <a:t>Key Features:</a:t>
            </a:r>
          </a:p>
          <a:p>
            <a:pPr>
              <a:spcAft>
                <a:spcPts val="600"/>
              </a:spcAft>
              <a:defRPr sz="1800"/>
            </a:pPr>
            <a:r>
              <a:t>• Autonomous agents (up to 20 min)</a:t>
            </a:r>
          </a:p>
          <a:p>
            <a:pPr>
              <a:spcAft>
                <a:spcPts val="600"/>
              </a:spcAft>
              <a:defRPr sz="1800"/>
            </a:pPr>
            <a:r>
              <a:t>• Enterprise search (Slack, Teams, GitHub)</a:t>
            </a:r>
          </a:p>
          <a:p>
            <a:pPr>
              <a:spcAft>
                <a:spcPts val="600"/>
              </a:spcAft>
              <a:defRPr sz="1800"/>
            </a:pPr>
            <a:r>
              <a:t>• Multi-model choice</a:t>
            </a:r>
          </a:p>
          <a:p>
            <a:pPr>
              <a:spcAft>
                <a:spcPts val="600"/>
              </a:spcAft>
              <a:defRPr sz="1800"/>
            </a:pPr>
            <a:r>
              <a:t>Pricing: Bundled in Business ($20/user/mo)</a:t>
            </a:r>
          </a:p>
          <a:p>
            <a:pPr>
              <a:spcAft>
                <a:spcPts val="600"/>
              </a:spcAft>
              <a:defRPr sz="1800"/>
            </a:pPr>
            <a:r>
              <a:t>Strength: Deep document integration, agents</a:t>
            </a:r>
          </a:p>
          <a:p>
            <a:pPr>
              <a:spcAft>
                <a:spcPts val="600"/>
              </a:spcAft>
              <a:defRPr sz="1800"/>
            </a:pPr>
            <a:r>
              <a:t>Weakness: Steep price jump from Plus tier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Competitor Snapshot: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AI Branding: Motion AI + AI Employees</a:t>
            </a:r>
          </a:p>
          <a:p>
            <a:pPr>
              <a:spcAft>
                <a:spcPts val="600"/>
              </a:spcAft>
              <a:defRPr sz="1800"/>
            </a:pPr>
            <a:r>
              <a:t>Key Features:</a:t>
            </a:r>
          </a:p>
          <a:p>
            <a:pPr>
              <a:spcAft>
                <a:spcPts val="600"/>
              </a:spcAft>
              <a:defRPr sz="1800"/>
            </a:pPr>
            <a:r>
              <a:t>• AI auto-scheduling</a:t>
            </a:r>
          </a:p>
          <a:p>
            <a:pPr>
              <a:spcAft>
                <a:spcPts val="600"/>
              </a:spcAft>
              <a:defRPr sz="1800"/>
            </a:pPr>
            <a:r>
              <a:t>• Focus time protection</a:t>
            </a:r>
          </a:p>
          <a:p>
            <a:pPr>
              <a:spcAft>
                <a:spcPts val="600"/>
              </a:spcAft>
              <a:defRPr sz="1800"/>
            </a:pPr>
            <a:r>
              <a:t>• AI Employees (autonomous workers)</a:t>
            </a:r>
          </a:p>
          <a:p>
            <a:pPr>
              <a:spcAft>
                <a:spcPts val="600"/>
              </a:spcAft>
              <a:defRPr sz="1800"/>
            </a:pPr>
            <a:r>
              <a:t>Pricing: $19-29/mo + AI Employees ($49-599/mo)</a:t>
            </a:r>
          </a:p>
          <a:p>
            <a:pPr>
              <a:spcAft>
                <a:spcPts val="600"/>
              </a:spcAft>
              <a:defRPr sz="1800"/>
            </a:pPr>
            <a:r>
              <a:t>Strength: Best-in-class scheduling (saves 2.5-5 hrs/wk)</a:t>
            </a:r>
          </a:p>
          <a:p>
            <a:pPr>
              <a:spcAft>
                <a:spcPts val="600"/>
              </a:spcAft>
              <a:defRPr sz="1800"/>
            </a:pPr>
            <a:r>
              <a:t>Weakness: Limited PM features, learning curve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Feature Comparison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Feature  Asana  Linear  Monday  ClickUp  Notion  Motion</a:t>
            </a:r>
          </a:p>
          <a:p/>
          <a:p>
            <a:pPr>
              <a:spcAft>
                <a:spcPts val="600"/>
              </a:spcAft>
              <a:defRPr sz="1800"/>
            </a:pPr>
            <a:r>
              <a:t>Chat AI  ✓  -  ✓  ✓  ✓  -</a:t>
            </a:r>
          </a:p>
          <a:p>
            <a:pPr>
              <a:spcAft>
                <a:spcPts val="600"/>
              </a:spcAft>
              <a:defRPr sz="1800"/>
            </a:pPr>
            <a:r>
              <a:t>Writing  ✓  -  ✓  ✓  ✓  -</a:t>
            </a:r>
          </a:p>
          <a:p>
            <a:pPr>
              <a:spcAft>
                <a:spcPts val="600"/>
              </a:spcAft>
              <a:defRPr sz="1800"/>
            </a:pPr>
            <a:r>
              <a:t>Auto-Triage  ✓  ✓  ✓  ✓  -  -</a:t>
            </a:r>
          </a:p>
          <a:p>
            <a:pPr>
              <a:spcAft>
                <a:spcPts val="600"/>
              </a:spcAft>
              <a:defRPr sz="1800"/>
            </a:pPr>
            <a:r>
              <a:t>Autonomous Agents  -  -  ✓  ✓  ✓  ✓</a:t>
            </a:r>
          </a:p>
          <a:p>
            <a:pPr>
              <a:spcAft>
                <a:spcPts val="600"/>
              </a:spcAft>
              <a:defRPr sz="1800"/>
            </a:pPr>
            <a:r>
              <a:t>Meeting Notes  -  -  -  ✓  ✓  ✓</a:t>
            </a:r>
          </a:p>
          <a:p>
            <a:pPr>
              <a:spcAft>
                <a:spcPts val="600"/>
              </a:spcAft>
              <a:defRPr sz="1800"/>
            </a:pPr>
            <a:r>
              <a:t>Multi-Model  -  -  -  ✓  ✓  -</a:t>
            </a:r>
          </a:p>
          <a:p>
            <a:pPr>
              <a:spcAft>
                <a:spcPts val="600"/>
              </a:spcAft>
              <a:defRPr sz="1800"/>
            </a:pPr>
            <a:r>
              <a:t>Custom Agent Builder  -  -  ✓  ✓  -  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Pricing Models in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Model  Used By  Pros  Cons</a:t>
            </a:r>
          </a:p>
          <a:p/>
          <a:p>
            <a:pPr>
              <a:spcAft>
                <a:spcPts val="600"/>
              </a:spcAft>
              <a:defRPr sz="1800"/>
            </a:pPr>
            <a:r>
              <a:t>Bundled  Asana, Linear, Notion  Simple  Forces tier upgrade</a:t>
            </a:r>
          </a:p>
          <a:p>
            <a:pPr>
              <a:spcAft>
                <a:spcPts val="600"/>
              </a:spcAft>
              <a:defRPr sz="1800"/>
            </a:pPr>
            <a:r>
              <a:t>Per-user add-on  ClickUp  Predictable  Adds complexity</a:t>
            </a:r>
          </a:p>
          <a:p>
            <a:pPr>
              <a:spcAft>
                <a:spcPts val="600"/>
              </a:spcAft>
              <a:defRPr sz="1800"/>
            </a:pPr>
            <a:r>
              <a:t>Credit-based  Monday, Motion  Usage-aligned  Unpredictable costs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Market Gaps Identified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1. Customer-Facing AI - No competitor does this well</a:t>
            </a:r>
          </a:p>
          <a:p>
            <a:pPr>
              <a:spcAft>
                <a:spcPts val="600"/>
              </a:spcAft>
              <a:defRPr sz="1800"/>
            </a:pPr>
            <a:r>
              <a:t>2. Predictive Project Health - True predictive analytics underdeveloped</a:t>
            </a:r>
          </a:p>
          <a:p>
            <a:pPr>
              <a:spcAft>
                <a:spcPts val="600"/>
              </a:spcAft>
              <a:defRPr sz="1800"/>
            </a:pPr>
            <a:r>
              <a:t>3. SMB-Friendly Agents - Autonomous AI gated to Enterprise tiers</a:t>
            </a:r>
          </a:p>
          <a:p>
            <a:pPr>
              <a:spcAft>
                <a:spcPts val="600"/>
              </a:spcAft>
              <a:defRPr sz="1800"/>
            </a:pPr>
            <a:r>
              <a:t>4. Industry-Specific Templates - Generic implementations dominate</a:t>
            </a:r>
          </a:p>
          <a:p>
            <a:pPr>
              <a:spcAft>
                <a:spcPts val="600"/>
              </a:spcAft>
              <a:defRPr sz="1800"/>
            </a:pPr>
            <a:r>
              <a:t>5. AI Transparency - Audit trails &amp; explainability underserved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Strategic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Option  Description  Recommendation</a:t>
            </a:r>
          </a:p>
          <a:p/>
          <a:p>
            <a:pPr>
              <a:spcAft>
                <a:spcPts val="600"/>
              </a:spcAft>
              <a:defRPr sz="1800"/>
            </a:pPr>
            <a:r>
              <a:t>A. Feature Parity  Match all competitor features  Not recommended</a:t>
            </a:r>
          </a:p>
          <a:p>
            <a:pPr>
              <a:spcAft>
                <a:spcPts val="600"/>
              </a:spcAft>
              <a:defRPr sz="1800"/>
            </a:pPr>
            <a:r>
              <a:t>B. Niche Specialization  Focus on one vertical  Secondary</a:t>
            </a:r>
          </a:p>
          <a:p>
            <a:pPr>
              <a:spcAft>
                <a:spcPts val="600"/>
              </a:spcAft>
              <a:defRPr sz="1800"/>
            </a:pPr>
            <a:r>
              <a:t>C. Fast Follower + Differentiation  Core features + unique capabilities  Recommended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Recommended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Fast Follower with Differentiation</a:t>
            </a:r>
          </a:p>
          <a:p>
            <a:pPr>
              <a:spcAft>
                <a:spcPts val="600"/>
              </a:spcAft>
              <a:defRPr sz="1800"/>
            </a:pPr>
            <a:r>
              <a:t>Core principle: Don't chase parity. Own underserved segments.</a:t>
            </a:r>
          </a:p>
          <a:p>
            <a:pPr>
              <a:spcAft>
                <a:spcPts val="600"/>
              </a:spcAft>
              <a:defRPr sz="1800"/>
            </a:pPr>
            <a:r>
              <a:t>Primary differentiators:</a:t>
            </a:r>
          </a:p>
          <a:p>
            <a:pPr>
              <a:spcAft>
                <a:spcPts val="600"/>
              </a:spcAft>
              <a:defRPr sz="1800"/>
            </a:pPr>
            <a:r>
              <a:t>1. Customer-Facing AI - AI for client communication &amp; stakeholder updates</a:t>
            </a:r>
          </a:p>
          <a:p>
            <a:pPr>
              <a:spcAft>
                <a:spcPts val="600"/>
              </a:spcAft>
              <a:defRPr sz="1800"/>
            </a:pPr>
            <a:r>
              <a:t>2. SMB-Accessible Agents - Autonomous AI not gated to Enterprise</a:t>
            </a:r>
          </a:p>
          <a:p>
            <a:pPr>
              <a:spcAft>
                <a:spcPts val="600"/>
              </a:spcAft>
              <a:defRPr sz="1800"/>
            </a:pPr>
            <a:r>
              <a:t>3. Predictive Project Health - True predictive analytics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Roadmap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Q1-Q2 2026          Q2-Q3 2026           Q4 2026+</a:t>
            </a:r>
          </a:p>
          <a:p>
            <a:pPr>
              <a:spcAft>
                <a:spcPts val="600"/>
              </a:spcAft>
              <a:defRPr sz="1800"/>
            </a:pPr>
            <a:r>
              <a:t>    │                   │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t>    ▼                   ▼                    ▼</a:t>
            </a:r>
          </a:p>
          <a:p>
            <a:pPr>
              <a:spcAft>
                <a:spcPts val="600"/>
              </a:spcAft>
              <a:defRPr sz="1800"/>
            </a:pPr>
            <a:r>
              <a:t>┌─────────┐       ┌─────────────┐      ┌──────────┐</a:t>
            </a:r>
          </a:p>
          <a:p>
            <a:pPr>
              <a:spcAft>
                <a:spcPts val="600"/>
              </a:spcAft>
              <a:defRPr sz="1800"/>
            </a:pPr>
            <a:r>
              <a:t>│ Phase 1 │       │   Phase 2   │      │ Phase 3  │</a:t>
            </a:r>
          </a:p>
          <a:p>
            <a:pPr>
              <a:spcAft>
                <a:spcPts val="600"/>
              </a:spcAft>
              <a:defRPr sz="1800"/>
            </a:pPr>
            <a:r>
              <a:t>│Foundation│ ───► │Differentiate│ ───► │ Agentic  │</a:t>
            </a:r>
          </a:p>
          <a:p>
            <a:pPr>
              <a:spcAft>
                <a:spcPts val="600"/>
              </a:spcAft>
              <a:defRPr sz="1800"/>
            </a:pPr>
            <a:r>
              <a:t>└─────────┘       └─────────────┘      └──────────┘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Phase 1: Foundation (Q1-Q2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Goal: Establish AI credibility with table-stakes features</a:t>
            </a:r>
          </a:p>
          <a:p>
            <a:pPr>
              <a:spcAft>
                <a:spcPts val="600"/>
              </a:spcAft>
              <a:defRPr sz="1800"/>
            </a:pPr>
            <a:r>
              <a:t>Feature  Priority  Build/Partner</a:t>
            </a:r>
          </a:p>
          <a:p/>
          <a:p>
            <a:pPr>
              <a:spcAft>
                <a:spcPts val="600"/>
              </a:spcAft>
              <a:defRPr sz="1800"/>
            </a:pPr>
            <a:r>
              <a:t>AI Chat Assistant  P0  Partner (LLM API)</a:t>
            </a:r>
          </a:p>
          <a:p>
            <a:pPr>
              <a:spcAft>
                <a:spcPts val="600"/>
              </a:spcAft>
              <a:defRPr sz="1800"/>
            </a:pPr>
            <a:r>
              <a:t>Smart Summaries  P0  Build</a:t>
            </a:r>
          </a:p>
          <a:p>
            <a:pPr>
              <a:spcAft>
                <a:spcPts val="600"/>
              </a:spcAft>
              <a:defRPr sz="1800"/>
            </a:pPr>
            <a:r>
              <a:t>Writing Assistance  P1  Partner (LLM API)</a:t>
            </a:r>
          </a:p>
          <a:p>
            <a:pPr>
              <a:spcAft>
                <a:spcPts val="600"/>
              </a:spcAft>
              <a:defRPr sz="1800"/>
            </a:pPr>
            <a:r>
              <a:t>Workflow Suggestions  P1  Build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Phase 2: Differentiation (Q2-Q3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Goal: Build unique capabilities competitors lack</a:t>
            </a:r>
          </a:p>
          <a:p>
            <a:pPr>
              <a:spcAft>
                <a:spcPts val="600"/>
              </a:spcAft>
              <a:defRPr sz="1800"/>
            </a:pPr>
            <a:r>
              <a:t>Feature  Priority  Build/Partner</a:t>
            </a:r>
          </a:p>
          <a:p/>
          <a:p>
            <a:pPr>
              <a:spcAft>
                <a:spcPts val="600"/>
              </a:spcAft>
              <a:defRPr sz="1800"/>
            </a:pPr>
            <a:r>
              <a:t>Customer-Facing AI Updates  P0  Build</a:t>
            </a:r>
          </a:p>
          <a:p>
            <a:pPr>
              <a:spcAft>
                <a:spcPts val="600"/>
              </a:spcAft>
              <a:defRPr sz="1800"/>
            </a:pPr>
            <a:r>
              <a:t>Predictive Project Health  P0  Build</a:t>
            </a:r>
          </a:p>
          <a:p>
            <a:pPr>
              <a:spcAft>
                <a:spcPts val="600"/>
              </a:spcAft>
              <a:defRPr sz="1800"/>
            </a:pPr>
            <a:r>
              <a:t>Meeting Intelligence  P1  Partner</a:t>
            </a:r>
          </a:p>
          <a:p>
            <a:pPr>
              <a:spcAft>
                <a:spcPts val="600"/>
              </a:spcAft>
              <a:defRPr sz="1800"/>
            </a:pPr>
            <a:r>
              <a:t>Smart Resource Allocation  P1  Build</a:t>
            </a:r>
          </a:p>
          <a:p>
            <a:pPr>
              <a:spcAft>
                <a:spcPts val="600"/>
              </a:spcAft>
              <a:defRPr sz="1800"/>
            </a:pPr>
            <a:r>
              <a:t>Key differentiator: AI-generated client status reports, stakeholder dashboards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Phase 3: Agentic (Q4 2026+)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Goal: Enter autonomous AI market with targeted use cases</a:t>
            </a:r>
          </a:p>
          <a:p>
            <a:pPr>
              <a:spcAft>
                <a:spcPts val="600"/>
              </a:spcAft>
              <a:defRPr sz="1800"/>
            </a:pPr>
            <a:r>
              <a:t>Feature  Priority  Build/Partner</a:t>
            </a:r>
          </a:p>
          <a:p/>
          <a:p>
            <a:pPr>
              <a:spcAft>
                <a:spcPts val="600"/>
              </a:spcAft>
              <a:defRPr sz="1800"/>
            </a:pPr>
            <a:r>
              <a:t>TaskFlow Agents  P0  Build</a:t>
            </a:r>
          </a:p>
          <a:p>
            <a:pPr>
              <a:spcAft>
                <a:spcPts val="600"/>
              </a:spcAft>
              <a:defRPr sz="1800"/>
            </a:pPr>
            <a:r>
              <a:t>Custom Agent Builder  P1  Build/Partner</a:t>
            </a:r>
          </a:p>
          <a:p>
            <a:pPr>
              <a:spcAft>
                <a:spcPts val="600"/>
              </a:spcAft>
              <a:defRPr sz="1800"/>
            </a:pPr>
            <a:r>
              <a:t>Multi-Agent Orchestration  P2  Build</a:t>
            </a:r>
          </a:p>
          <a:p>
            <a:pPr>
              <a:spcAft>
                <a:spcPts val="600"/>
              </a:spcAft>
              <a:defRPr sz="1800"/>
            </a:pPr>
            <a:r>
              <a:t>Industry Templates  P2  Partner</a:t>
            </a:r>
          </a:p>
          <a:p>
            <a:pPr>
              <a:spcAft>
                <a:spcPts val="600"/>
              </a:spcAft>
              <a:defRPr sz="1800"/>
            </a:pPr>
            <a:r>
              <a:t>Strategy: Start bounded, expand with guardrails, democratize for SMB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Build vs Partner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Approach  Use For</a:t>
            </a:r>
          </a:p>
          <a:p/>
          <a:p>
            <a:pPr>
              <a:spcAft>
                <a:spcPts val="600"/>
              </a:spcAft>
              <a:defRPr sz="1800"/>
            </a:pPr>
            <a:r>
              <a:t>Build  Smart Summaries, Customer-Facing AI, Predictive Health, Agents</a:t>
            </a:r>
          </a:p>
          <a:p>
            <a:pPr>
              <a:spcAft>
                <a:spcPts val="600"/>
              </a:spcAft>
              <a:defRPr sz="1800"/>
            </a:pPr>
            <a:r>
              <a:t>Partner  LLM backbone (Anthropic/OpenAI), Meeting AI, Calendar AI</a:t>
            </a:r>
          </a:p>
          <a:p>
            <a:pPr>
              <a:spcAft>
                <a:spcPts val="600"/>
              </a:spcAft>
              <a:defRPr sz="1800"/>
            </a:pPr>
            <a:r>
              <a:t>Buy  Only if timeline pressure is extreme</a:t>
            </a:r>
          </a:p>
          <a:p>
            <a:pPr>
              <a:spcAft>
                <a:spcPts val="600"/>
              </a:spcAft>
              <a:defRPr sz="1800"/>
            </a:pPr>
            <a:r>
              <a:t>Recommendation: Partner for LLM; multi-model support becoming table stakes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Pricing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Hybrid Model</a:t>
            </a:r>
          </a:p>
          <a:p>
            <a:pPr>
              <a:spcAft>
                <a:spcPts val="600"/>
              </a:spcAft>
              <a:defRPr sz="1800"/>
            </a:pPr>
            <a:r>
              <a:t>1. Basic AI included in all paid plans</a:t>
            </a:r>
          </a:p>
          <a:p>
            <a:pPr>
              <a:spcAft>
                <a:spcPts val="600"/>
              </a:spcAft>
              <a:defRPr sz="1800"/>
            </a:pPr>
            <a:r>
              <a:t>   - Summaries, writing assistance</a:t>
            </a:r>
          </a:p>
          <a:p>
            <a:pPr>
              <a:spcAft>
                <a:spcPts val="600"/>
              </a:spcAft>
              <a:defRPr sz="1800"/>
            </a:pPr>
            <a:r>
              <a:t>2. Advanced AI as flat add-on</a:t>
            </a:r>
          </a:p>
          <a:p>
            <a:pPr>
              <a:spcAft>
                <a:spcPts val="600"/>
              </a:spcAft>
              <a:defRPr sz="1800"/>
            </a:pPr>
            <a:r>
              <a:t>   - Agents, custom workflows</a:t>
            </a:r>
          </a:p>
          <a:p>
            <a:pPr>
              <a:spcAft>
                <a:spcPts val="600"/>
              </a:spcAft>
              <a:defRPr sz="1800"/>
            </a:pPr>
            <a:r>
              <a:t>3. No credit system</a:t>
            </a:r>
          </a:p>
          <a:p>
            <a:pPr>
              <a:spcAft>
                <a:spcPts val="600"/>
              </a:spcAft>
              <a:defRPr sz="1800"/>
            </a:pPr>
            <a:r>
              <a:t>   - Simplicity as competitive advantage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Investment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Team Requirements</a:t>
            </a:r>
          </a:p>
          <a:p>
            <a:pPr>
              <a:spcAft>
                <a:spcPts val="600"/>
              </a:spcAft>
              <a:defRPr sz="1800"/>
            </a:pPr>
            <a:r>
              <a:t>Role  Phase 1  Phase 2  Phase 3</a:t>
            </a:r>
          </a:p>
          <a:p/>
          <a:p>
            <a:pPr>
              <a:spcAft>
                <a:spcPts val="600"/>
              </a:spcAft>
              <a:defRPr sz="1800"/>
            </a:pPr>
            <a:r>
              <a:t>AI/ML Engineers  2-3  4-5  6-8</a:t>
            </a:r>
          </a:p>
          <a:p>
            <a:pPr>
              <a:spcAft>
                <a:spcPts val="600"/>
              </a:spcAft>
              <a:defRPr sz="1800"/>
            </a:pPr>
            <a:r>
              <a:t>Backend Engineers  2  3  4</a:t>
            </a:r>
          </a:p>
          <a:p>
            <a:pPr>
              <a:spcAft>
                <a:spcPts val="600"/>
              </a:spcAft>
              <a:defRPr sz="1800"/>
            </a:pPr>
            <a:r>
              <a:t>Frontend Engineers  1-2  2  3</a:t>
            </a:r>
          </a:p>
          <a:p>
            <a:pPr>
              <a:spcAft>
                <a:spcPts val="600"/>
              </a:spcAft>
              <a:defRPr sz="1800"/>
            </a:pPr>
            <a:r>
              <a:t>Product Manager (AI)  1  1  1-2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External Costs (Annual)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Category  Phase 1  Phase 2  Phase 3</a:t>
            </a:r>
          </a:p>
          <a:p/>
          <a:p>
            <a:pPr>
              <a:spcAft>
                <a:spcPts val="600"/>
              </a:spcAft>
              <a:defRPr sz="1800"/>
            </a:pPr>
            <a:r>
              <a:t>LLM API  $50-100K  $150-300K  $300-500K</a:t>
            </a:r>
          </a:p>
          <a:p>
            <a:pPr>
              <a:spcAft>
                <a:spcPts val="600"/>
              </a:spcAft>
              <a:defRPr sz="1800"/>
            </a:pPr>
            <a:r>
              <a:t>Partner integrations  $20-50K  $50-100K  $100-200K</a:t>
            </a:r>
          </a:p>
          <a:p>
            <a:pPr>
              <a:spcAft>
                <a:spcPts val="600"/>
              </a:spcAft>
              <a:defRPr sz="1800"/>
            </a:pPr>
            <a:r>
              <a:t>Infrastructure  $30-50K  $75-150K  $150-250K</a:t>
            </a:r>
          </a:p>
          <a:p>
            <a:pPr>
              <a:spcAft>
                <a:spcPts val="600"/>
              </a:spcAft>
              <a:defRPr sz="1800"/>
            </a:pPr>
            <a:r>
              <a:t>Note: Costs scale with adoption success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Risk  Mitigation</a:t>
            </a:r>
          </a:p>
          <a:p/>
          <a:p>
            <a:pPr>
              <a:spcAft>
                <a:spcPts val="600"/>
              </a:spcAft>
              <a:defRPr sz="1800"/>
            </a:pPr>
            <a:r>
              <a:t>LLM provider outages  Multi-provider strategy</a:t>
            </a:r>
          </a:p>
          <a:p>
            <a:pPr>
              <a:spcAft>
                <a:spcPts val="600"/>
              </a:spcAft>
              <a:defRPr sz="1800"/>
            </a:pPr>
            <a:r>
              <a:t>AI hallucinations (customer-facing)  Human-in-loop approval</a:t>
            </a:r>
          </a:p>
          <a:p>
            <a:pPr>
              <a:spcAft>
                <a:spcPts val="600"/>
              </a:spcAft>
              <a:defRPr sz="1800"/>
            </a:pPr>
            <a:r>
              <a:t>Talent acquisition  Partner strategy reduces needs</a:t>
            </a:r>
          </a:p>
          <a:p>
            <a:pPr>
              <a:spcAft>
                <a:spcPts val="600"/>
              </a:spcAft>
              <a:defRPr sz="1800"/>
            </a:pPr>
            <a:r>
              <a:t>Scope creep  Strict roadmap discipline</a:t>
            </a:r>
          </a:p>
          <a:p>
            <a:pPr>
              <a:spcAft>
                <a:spcPts val="600"/>
              </a:spcAft>
              <a:defRPr sz="1800"/>
            </a:pPr>
            <a:r>
              <a:t>Competitor acceleration  Focus on differentiation, not parity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Phase 1</a:t>
            </a:r>
          </a:p>
          <a:p>
            <a:pPr>
              <a:spcAft>
                <a:spcPts val="600"/>
              </a:spcAft>
              <a:defRPr sz="1800"/>
            </a:pPr>
            <a:r>
              <a:t>• AI adoption &gt; 40% within 90 days</a:t>
            </a:r>
          </a:p>
          <a:p>
            <a:pPr>
              <a:spcAft>
                <a:spcPts val="600"/>
              </a:spcAft>
              <a:defRPr sz="1800"/>
            </a:pPr>
            <a:r>
              <a:t>• NPS for AI features &gt; 30</a:t>
            </a:r>
          </a:p>
          <a:p>
            <a:pPr>
              <a:spcAft>
                <a:spcPts val="600"/>
              </a:spcAft>
              <a:defRPr sz="1800"/>
            </a:pPr>
            <a:r>
              <a:t>Phase 2</a:t>
            </a:r>
          </a:p>
          <a:p>
            <a:pPr>
              <a:spcAft>
                <a:spcPts val="600"/>
              </a:spcAft>
              <a:defRPr sz="1800"/>
            </a:pPr>
            <a:r>
              <a:t>• Customer-facing AI in &gt; 20% of projects</a:t>
            </a:r>
          </a:p>
          <a:p>
            <a:pPr>
              <a:spcAft>
                <a:spcPts val="600"/>
              </a:spcAft>
              <a:defRPr sz="1800"/>
            </a:pPr>
            <a:r>
              <a:t>• Win rate improvement in competitive deals</a:t>
            </a:r>
          </a:p>
          <a:p>
            <a:pPr>
              <a:spcAft>
                <a:spcPts val="600"/>
              </a:spcAft>
              <a:defRPr sz="1800"/>
            </a:pPr>
            <a:r>
              <a:t>Phase 3</a:t>
            </a:r>
          </a:p>
          <a:p>
            <a:pPr>
              <a:spcAft>
                <a:spcPts val="600"/>
              </a:spcAft>
              <a:defRPr sz="1800"/>
            </a:pPr>
            <a:r>
              <a:t>• Agent automation saves &gt; 2 hrs/week per user</a:t>
            </a:r>
          </a:p>
          <a:p>
            <a:pPr>
              <a:spcAft>
                <a:spcPts val="600"/>
              </a:spcAft>
              <a:defRPr sz="1800"/>
            </a:pPr>
            <a:r>
              <a:t>• AI revenue &gt; 15% of new ARR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Immediate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Next 2 Weeks</a:t>
            </a:r>
          </a:p>
          <a:p>
            <a:pPr>
              <a:spcAft>
                <a:spcPts val="600"/>
              </a:spcAft>
              <a:defRPr sz="1800"/>
            </a:pPr>
            <a:r>
              <a:t>1. Exec alignment on strategy direction</a:t>
            </a:r>
          </a:p>
          <a:p>
            <a:pPr>
              <a:spcAft>
                <a:spcPts val="600"/>
              </a:spcAft>
              <a:defRPr sz="1800"/>
            </a:pPr>
            <a:r>
              <a:t>2. Technical assessment of AI-readiness</a:t>
            </a:r>
          </a:p>
          <a:p>
            <a:pPr>
              <a:spcAft>
                <a:spcPts val="600"/>
              </a:spcAft>
              <a:defRPr sz="1800"/>
            </a:pPr>
            <a:r>
              <a:t>3. LLM provider evaluation</a:t>
            </a:r>
          </a:p>
          <a:p>
            <a:pPr>
              <a:spcAft>
                <a:spcPts val="600"/>
              </a:spcAft>
              <a:defRPr sz="1800"/>
            </a:pPr>
            <a:r>
              <a:t>4. Customer research on customer-facing AI interest</a:t>
            </a:r>
          </a:p>
          <a:p>
            <a:pPr>
              <a:spcAft>
                <a:spcPts val="600"/>
              </a:spcAft>
              <a:defRPr sz="1800"/>
            </a:pPr>
            <a:r>
              <a:t>## Next 30 Days</a:t>
            </a:r>
          </a:p>
          <a:p>
            <a:pPr>
              <a:spcAft>
                <a:spcPts val="600"/>
              </a:spcAft>
              <a:defRPr sz="1800"/>
            </a:pPr>
            <a:r>
              <a:t>1. Hire/assign AI Product Manager</a:t>
            </a:r>
          </a:p>
          <a:p>
            <a:pPr>
              <a:spcAft>
                <a:spcPts val="600"/>
              </a:spcAft>
              <a:defRPr sz="1800"/>
            </a:pPr>
            <a:r>
              <a:t>2. Prototype customer-facing AI updates</a:t>
            </a:r>
          </a:p>
          <a:p>
            <a:pPr>
              <a:spcAft>
                <a:spcPts val="600"/>
              </a:spcAft>
              <a:defRPr sz="1800"/>
            </a:pPr>
            <a:r>
              <a:t>3. Finalize Phase 1 scope</a:t>
            </a:r>
          </a:p>
          <a:p>
            <a:pPr>
              <a:spcAft>
                <a:spcPts val="600"/>
              </a:spcAft>
              <a:defRPr sz="1800"/>
            </a:pPr>
            <a:r>
              <a:t>4. Develop AI data governance policy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The opportunity is not to match competitors feature-for-feature.</a:t>
            </a:r>
          </a:p>
          <a:p>
            <a:pPr>
              <a:spcAft>
                <a:spcPts val="600"/>
              </a:spcAft>
              <a:defRPr sz="1800"/>
            </a:pPr>
            <a:r>
              <a:t>## It's to identify and own underserved segments:</a:t>
            </a:r>
          </a:p>
          <a:p>
            <a:pPr>
              <a:spcAft>
                <a:spcPts val="600"/>
              </a:spcAft>
              <a:defRPr sz="1800"/>
            </a:pPr>
            <a:r>
              <a:t>• Customer-facing AI</a:t>
            </a:r>
          </a:p>
          <a:p>
            <a:pPr>
              <a:spcAft>
                <a:spcPts val="600"/>
              </a:spcAft>
              <a:defRPr sz="1800"/>
            </a:pPr>
            <a:r>
              <a:t>• SMB-accessible agents</a:t>
            </a:r>
          </a:p>
          <a:p>
            <a:pPr>
              <a:spcAft>
                <a:spcPts val="600"/>
              </a:spcAft>
              <a:defRPr sz="1800"/>
            </a:pPr>
            <a:r>
              <a:t>• Predictive project health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 Window is Narrowing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Every major competitor has shipped AI.</a:t>
            </a:r>
          </a:p>
          <a:p>
            <a:pPr>
              <a:spcAft>
                <a:spcPts val="600"/>
              </a:spcAft>
              <a:defRPr sz="1800"/>
            </a:pPr>
            <a:r>
              <a:t>Gartner: 40% of enterprise apps will embed AI agents by end of 2026.</a:t>
            </a:r>
          </a:p>
          <a:p>
            <a:pPr>
              <a:spcAft>
                <a:spcPts val="600"/>
              </a:spcAft>
              <a:defRPr sz="1800"/>
            </a:pPr>
            <a:r>
              <a:t>We recommend immediate action.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Resources</a:t>
            </a:r>
          </a:p>
          <a:p>
            <a:pPr>
              <a:spcAft>
                <a:spcPts val="600"/>
              </a:spcAft>
              <a:defRPr sz="1800"/>
            </a:pPr>
            <a:r>
              <a:t>• Full competitive analysis: competitive-ai-analysis.md</a:t>
            </a:r>
          </a:p>
          <a:p>
            <a:pPr>
              <a:spcAft>
                <a:spcPts val="600"/>
              </a:spcAft>
              <a:defRPr sz="1800"/>
            </a:pPr>
            <a:r>
              <a:t>• Detailed strategy: ai-response-strategy.md</a:t>
            </a:r>
          </a:p>
          <a:p>
            <a:pPr>
              <a:spcAft>
                <a:spcPts val="600"/>
              </a:spcAft>
              <a:defRPr sz="1800"/>
            </a:pPr>
            <a:r>
              <a:t>• Repo: github.com/unaialdana-eng/taskflow-ai-strategy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Appendix: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Asana AI Studio - help.asana.com</a:t>
            </a:r>
          </a:p>
          <a:p>
            <a:pPr>
              <a:spcAft>
                <a:spcPts val="600"/>
              </a:spcAft>
              <a:defRPr sz="1800"/>
            </a:pPr>
            <a:r>
              <a:t>• Linear Triage Intelligence - linear.app/docs</a:t>
            </a:r>
          </a:p>
          <a:p>
            <a:pPr>
              <a:spcAft>
                <a:spcPts val="600"/>
              </a:spcAft>
              <a:defRPr sz="1800"/>
            </a:pPr>
            <a:r>
              <a:t>• Monday.com AI Vision - ir.monday.com</a:t>
            </a:r>
          </a:p>
          <a:p>
            <a:pPr>
              <a:spcAft>
                <a:spcPts val="600"/>
              </a:spcAft>
              <a:defRPr sz="1800"/>
            </a:pPr>
            <a:r>
              <a:t>• ClickUp Brain - clickup.com/brain</a:t>
            </a:r>
          </a:p>
          <a:p>
            <a:pPr>
              <a:spcAft>
                <a:spcPts val="600"/>
              </a:spcAft>
              <a:defRPr sz="1800"/>
            </a:pPr>
            <a:r>
              <a:t>• Notion AI - notion.com/product/ai</a:t>
            </a:r>
          </a:p>
          <a:p>
            <a:pPr>
              <a:spcAft>
                <a:spcPts val="600"/>
              </a:spcAft>
              <a:defRPr sz="1800"/>
            </a:pPr>
            <a:r>
              <a:t>• Motion AI - usemotion.com</a:t>
            </a:r>
          </a:p>
          <a:p>
            <a:pPr>
              <a:spcAft>
                <a:spcPts val="600"/>
              </a:spcAft>
              <a:defRPr sz="1800"/>
            </a:pPr>
            <a:r>
              <a:t>• Gartner AI Predictions - acuvate.com</a:t>
            </a:r>
          </a:p>
          <a:p>
            <a:pPr>
              <a:spcAft>
                <a:spcPts val="600"/>
              </a:spcAft>
              <a:defRPr sz="1800"/>
            </a:pPr>
            <a:r>
              <a:t>• IBM AI Trends 2026 - ibm.com/think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